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31"/>
  </p:normalViewPr>
  <p:slideViewPr>
    <p:cSldViewPr snapToGrid="0" snapToObjects="1">
      <p:cViewPr>
        <p:scale>
          <a:sx n="121" d="100"/>
          <a:sy n="121" d="100"/>
        </p:scale>
        <p:origin x="9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iyagupta/Library/Containers/net.whatsapp.WhatsApp/Data/tmp/documents/704D0881-EE05-4D7D-BFA0-FF19D9A88087/TQMSS%20Group%20Assignment%20LT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iyagupta/Library/Containers/net.whatsapp.WhatsApp/Data/tmp/documents/704D0881-EE05-4D7D-BFA0-FF19D9A88087/TQMSS%20Group%20Assignment%20LT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Control</a:t>
            </a:r>
            <a:r>
              <a:rPr lang="en-IN" baseline="0"/>
              <a:t> Chart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 MEASURE'!$H$26</c:f>
              <c:strCache>
                <c:ptCount val="1"/>
                <c:pt idx="0">
                  <c:v>Pi=yi/ni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'3 MEASURE'!$H$27:$H$54</c:f>
              <c:numCache>
                <c:formatCode>General</c:formatCode>
                <c:ptCount val="28"/>
                <c:pt idx="0">
                  <c:v>3.287671232876712E-2</c:v>
                </c:pt>
                <c:pt idx="1">
                  <c:v>6.0846560846560843E-2</c:v>
                </c:pt>
                <c:pt idx="2">
                  <c:v>4.8295454545454544E-2</c:v>
                </c:pt>
                <c:pt idx="3">
                  <c:v>6.8354430379746839E-2</c:v>
                </c:pt>
                <c:pt idx="4">
                  <c:v>4.0540540540540543E-2</c:v>
                </c:pt>
                <c:pt idx="5">
                  <c:v>5.8536585365853662E-2</c:v>
                </c:pt>
                <c:pt idx="6">
                  <c:v>3.6312849162011177E-2</c:v>
                </c:pt>
                <c:pt idx="7">
                  <c:v>9.3827160493827166E-2</c:v>
                </c:pt>
                <c:pt idx="8">
                  <c:v>5.2356020942408377E-2</c:v>
                </c:pt>
                <c:pt idx="9">
                  <c:v>7.2864321608040197E-2</c:v>
                </c:pt>
                <c:pt idx="10">
                  <c:v>3.8659793814432991E-2</c:v>
                </c:pt>
                <c:pt idx="11">
                  <c:v>5.5825242718446605E-2</c:v>
                </c:pt>
                <c:pt idx="12">
                  <c:v>4.3835616438356165E-2</c:v>
                </c:pt>
                <c:pt idx="13">
                  <c:v>6.9377990430622011E-2</c:v>
                </c:pt>
                <c:pt idx="14">
                  <c:v>1.4999999999999999E-2</c:v>
                </c:pt>
                <c:pt idx="15">
                  <c:v>5.8666666666666666E-2</c:v>
                </c:pt>
                <c:pt idx="16">
                  <c:v>4.9019607843137254E-2</c:v>
                </c:pt>
                <c:pt idx="17">
                  <c:v>3.591160220994475E-2</c:v>
                </c:pt>
                <c:pt idx="18">
                  <c:v>6.5060240963855417E-2</c:v>
                </c:pt>
                <c:pt idx="19">
                  <c:v>4.6153846153846156E-2</c:v>
                </c:pt>
                <c:pt idx="20">
                  <c:v>9.0909090909090912E-2</c:v>
                </c:pt>
                <c:pt idx="21">
                  <c:v>3.4946236559139782E-2</c:v>
                </c:pt>
                <c:pt idx="22">
                  <c:v>5.721393034825871E-2</c:v>
                </c:pt>
                <c:pt idx="23">
                  <c:v>4.8913043478260872E-2</c:v>
                </c:pt>
                <c:pt idx="24">
                  <c:v>6.3106796116504854E-2</c:v>
                </c:pt>
                <c:pt idx="25">
                  <c:v>4.1237113402061855E-2</c:v>
                </c:pt>
                <c:pt idx="26">
                  <c:v>5.185185185185185E-2</c:v>
                </c:pt>
                <c:pt idx="27">
                  <c:v>7.7889447236180909E-2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99-184B-AA52-305A1B4B4A6D}"/>
            </c:ext>
          </c:extLst>
        </c:ser>
        <c:ser>
          <c:idx val="1"/>
          <c:order val="1"/>
          <c:tx>
            <c:strRef>
              <c:f>'3 MEASURE'!$I$26</c:f>
              <c:strCache>
                <c:ptCount val="1"/>
                <c:pt idx="0">
                  <c:v>P bar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'3 MEASURE'!$I$27:$I$54</c:f>
              <c:numCache>
                <c:formatCode>General</c:formatCode>
                <c:ptCount val="28"/>
                <c:pt idx="0">
                  <c:v>5.435878632321936E-2</c:v>
                </c:pt>
                <c:pt idx="1">
                  <c:v>5.435878632321936E-2</c:v>
                </c:pt>
                <c:pt idx="2">
                  <c:v>5.435878632321936E-2</c:v>
                </c:pt>
                <c:pt idx="3">
                  <c:v>5.435878632321936E-2</c:v>
                </c:pt>
                <c:pt idx="4">
                  <c:v>5.435878632321936E-2</c:v>
                </c:pt>
                <c:pt idx="5">
                  <c:v>5.435878632321936E-2</c:v>
                </c:pt>
                <c:pt idx="6">
                  <c:v>5.435878632321936E-2</c:v>
                </c:pt>
                <c:pt idx="7">
                  <c:v>5.435878632321936E-2</c:v>
                </c:pt>
                <c:pt idx="8">
                  <c:v>5.435878632321936E-2</c:v>
                </c:pt>
                <c:pt idx="9">
                  <c:v>5.435878632321936E-2</c:v>
                </c:pt>
                <c:pt idx="10">
                  <c:v>5.435878632321936E-2</c:v>
                </c:pt>
                <c:pt idx="11">
                  <c:v>5.435878632321936E-2</c:v>
                </c:pt>
                <c:pt idx="12">
                  <c:v>5.435878632321936E-2</c:v>
                </c:pt>
                <c:pt idx="13">
                  <c:v>5.435878632321936E-2</c:v>
                </c:pt>
                <c:pt idx="14">
                  <c:v>5.435878632321936E-2</c:v>
                </c:pt>
                <c:pt idx="15">
                  <c:v>5.435878632321936E-2</c:v>
                </c:pt>
                <c:pt idx="16">
                  <c:v>5.435878632321936E-2</c:v>
                </c:pt>
                <c:pt idx="17">
                  <c:v>5.435878632321936E-2</c:v>
                </c:pt>
                <c:pt idx="18">
                  <c:v>5.435878632321936E-2</c:v>
                </c:pt>
                <c:pt idx="19">
                  <c:v>5.435878632321936E-2</c:v>
                </c:pt>
                <c:pt idx="20">
                  <c:v>5.435878632321936E-2</c:v>
                </c:pt>
                <c:pt idx="21">
                  <c:v>5.435878632321936E-2</c:v>
                </c:pt>
                <c:pt idx="22">
                  <c:v>5.435878632321936E-2</c:v>
                </c:pt>
                <c:pt idx="23">
                  <c:v>5.435878632321936E-2</c:v>
                </c:pt>
                <c:pt idx="24">
                  <c:v>5.435878632321936E-2</c:v>
                </c:pt>
                <c:pt idx="25">
                  <c:v>5.435878632321936E-2</c:v>
                </c:pt>
                <c:pt idx="26">
                  <c:v>5.435878632321936E-2</c:v>
                </c:pt>
                <c:pt idx="27">
                  <c:v>5.435878632321936E-2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99-184B-AA52-305A1B4B4A6D}"/>
            </c:ext>
          </c:extLst>
        </c:ser>
        <c:ser>
          <c:idx val="2"/>
          <c:order val="2"/>
          <c:tx>
            <c:strRef>
              <c:f>'3 MEASURE'!$K$26</c:f>
              <c:strCache>
                <c:ptCount val="1"/>
                <c:pt idx="0">
                  <c:v>LCL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'3 MEASURE'!$K$27:$K$54</c:f>
              <c:numCache>
                <c:formatCode>General</c:formatCode>
                <c:ptCount val="28"/>
                <c:pt idx="0">
                  <c:v>1.8756909427406904E-2</c:v>
                </c:pt>
                <c:pt idx="1">
                  <c:v>1.9374467158129072E-2</c:v>
                </c:pt>
                <c:pt idx="2">
                  <c:v>1.8105448778815987E-2</c:v>
                </c:pt>
                <c:pt idx="3">
                  <c:v>2.0135573457222611E-2</c:v>
                </c:pt>
                <c:pt idx="4">
                  <c:v>1.8998280867381194E-2</c:v>
                </c:pt>
                <c:pt idx="5">
                  <c:v>2.0767440963752742E-2</c:v>
                </c:pt>
                <c:pt idx="6">
                  <c:v>1.8410531377104439E-2</c:v>
                </c:pt>
                <c:pt idx="7">
                  <c:v>2.05607230412021E-2</c:v>
                </c:pt>
                <c:pt idx="8">
                  <c:v>1.9558113146613182E-2</c:v>
                </c:pt>
                <c:pt idx="9">
                  <c:v>2.0264799392094211E-2</c:v>
                </c:pt>
                <c:pt idx="10">
                  <c:v>1.9828238885838803E-2</c:v>
                </c:pt>
                <c:pt idx="11">
                  <c:v>2.0849072543373121E-2</c:v>
                </c:pt>
                <c:pt idx="12">
                  <c:v>1.8756909427406904E-2</c:v>
                </c:pt>
                <c:pt idx="13">
                  <c:v>2.1090442171193401E-2</c:v>
                </c:pt>
                <c:pt idx="14">
                  <c:v>2.0350141170325756E-2</c:v>
                </c:pt>
                <c:pt idx="15">
                  <c:v>1.9234808642090151E-2</c:v>
                </c:pt>
                <c:pt idx="16">
                  <c:v>2.0685209885116171E-2</c:v>
                </c:pt>
                <c:pt idx="17">
                  <c:v>1.8609692216774956E-2</c:v>
                </c:pt>
                <c:pt idx="18">
                  <c:v>2.0970411676101211E-2</c:v>
                </c:pt>
                <c:pt idx="19">
                  <c:v>1.9916892555704883E-2</c:v>
                </c:pt>
                <c:pt idx="20">
                  <c:v>2.1090442171193401E-2</c:v>
                </c:pt>
                <c:pt idx="21">
                  <c:v>1.9093464096440672E-2</c:v>
                </c:pt>
                <c:pt idx="22">
                  <c:v>2.043484527483639E-2</c:v>
                </c:pt>
                <c:pt idx="23">
                  <c:v>1.8902322738566429E-2</c:v>
                </c:pt>
                <c:pt idx="24">
                  <c:v>2.0849072543373121E-2</c:v>
                </c:pt>
                <c:pt idx="25">
                  <c:v>1.9828238885838803E-2</c:v>
                </c:pt>
                <c:pt idx="26">
                  <c:v>2.05607230412021E-2</c:v>
                </c:pt>
                <c:pt idx="27">
                  <c:v>2.0264799392094211E-2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99-184B-AA52-305A1B4B4A6D}"/>
            </c:ext>
          </c:extLst>
        </c:ser>
        <c:ser>
          <c:idx val="3"/>
          <c:order val="3"/>
          <c:tx>
            <c:strRef>
              <c:f>'3 MEASURE'!$L$26</c:f>
              <c:strCache>
                <c:ptCount val="1"/>
                <c:pt idx="0">
                  <c:v>UCL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'3 MEASURE'!$L$27:$L$54</c:f>
              <c:numCache>
                <c:formatCode>General</c:formatCode>
                <c:ptCount val="28"/>
                <c:pt idx="0">
                  <c:v>8.9960663219031817E-2</c:v>
                </c:pt>
                <c:pt idx="1">
                  <c:v>8.9343105488309649E-2</c:v>
                </c:pt>
                <c:pt idx="2">
                  <c:v>9.061212386762274E-2</c:v>
                </c:pt>
                <c:pt idx="3">
                  <c:v>8.858199918921611E-2</c:v>
                </c:pt>
                <c:pt idx="4">
                  <c:v>8.971929177905752E-2</c:v>
                </c:pt>
                <c:pt idx="5">
                  <c:v>8.7950131682685978E-2</c:v>
                </c:pt>
                <c:pt idx="6">
                  <c:v>9.0307041269334282E-2</c:v>
                </c:pt>
                <c:pt idx="7">
                  <c:v>8.815684960523662E-2</c:v>
                </c:pt>
                <c:pt idx="8">
                  <c:v>8.9159459499825539E-2</c:v>
                </c:pt>
                <c:pt idx="9">
                  <c:v>8.8452773254344502E-2</c:v>
                </c:pt>
                <c:pt idx="10">
                  <c:v>8.8889333760599917E-2</c:v>
                </c:pt>
                <c:pt idx="11">
                  <c:v>8.78685001030656E-2</c:v>
                </c:pt>
                <c:pt idx="12">
                  <c:v>8.9960663219031817E-2</c:v>
                </c:pt>
                <c:pt idx="13">
                  <c:v>8.7627130475245313E-2</c:v>
                </c:pt>
                <c:pt idx="14">
                  <c:v>8.8367431476112965E-2</c:v>
                </c:pt>
                <c:pt idx="15">
                  <c:v>8.9482764004348569E-2</c:v>
                </c:pt>
                <c:pt idx="16">
                  <c:v>8.803236276132255E-2</c:v>
                </c:pt>
                <c:pt idx="17">
                  <c:v>9.0107880429663764E-2</c:v>
                </c:pt>
                <c:pt idx="18">
                  <c:v>8.7747160970337509E-2</c:v>
                </c:pt>
                <c:pt idx="19">
                  <c:v>8.880068009073383E-2</c:v>
                </c:pt>
                <c:pt idx="20">
                  <c:v>8.7627130475245313E-2</c:v>
                </c:pt>
                <c:pt idx="21">
                  <c:v>8.9624108549998055E-2</c:v>
                </c:pt>
                <c:pt idx="22">
                  <c:v>8.8282727371602338E-2</c:v>
                </c:pt>
                <c:pt idx="23">
                  <c:v>8.9815249907872291E-2</c:v>
                </c:pt>
                <c:pt idx="24">
                  <c:v>8.78685001030656E-2</c:v>
                </c:pt>
                <c:pt idx="25">
                  <c:v>8.8889333760599917E-2</c:v>
                </c:pt>
                <c:pt idx="26">
                  <c:v>8.815684960523662E-2</c:v>
                </c:pt>
                <c:pt idx="27">
                  <c:v>8.8452773254344502E-2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99-184B-AA52-305A1B4B4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63354704"/>
        <c:axId val="967207440"/>
      </c:lineChart>
      <c:catAx>
        <c:axId val="1063354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07440"/>
        <c:crosses val="autoZero"/>
        <c:auto val="1"/>
        <c:lblAlgn val="ctr"/>
        <c:lblOffset val="100"/>
        <c:noMultiLvlLbl val="0"/>
      </c:catAx>
      <c:valAx>
        <c:axId val="96720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3354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 MEASURE'!$C$14</c:f>
              <c:strCache>
                <c:ptCount val="1"/>
                <c:pt idx="0">
                  <c:v>Defect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'3 MEASURE'!$C$15:$C$17</c:f>
              <c:numCache>
                <c:formatCode>0</c:formatCode>
                <c:ptCount val="3"/>
                <c:pt idx="0">
                  <c:v>277</c:v>
                </c:pt>
                <c:pt idx="1">
                  <c:v>178</c:v>
                </c:pt>
                <c:pt idx="2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01-2741-A75E-B3CC93F17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7502576"/>
        <c:axId val="596189872"/>
      </c:barChart>
      <c:lineChart>
        <c:grouping val="standard"/>
        <c:varyColors val="0"/>
        <c:ser>
          <c:idx val="1"/>
          <c:order val="1"/>
          <c:tx>
            <c:strRef>
              <c:f>'3 MEASURE'!$E$14</c:f>
              <c:strCache>
                <c:ptCount val="1"/>
                <c:pt idx="0">
                  <c:v>Cumulative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'3 MEASURE'!$E$15:$E$17</c:f>
              <c:numCache>
                <c:formatCode>0.00%</c:formatCode>
                <c:ptCount val="3"/>
                <c:pt idx="0">
                  <c:v>0.46711635750421587</c:v>
                </c:pt>
                <c:pt idx="1">
                  <c:v>0.76728499156829677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01-2741-A75E-B3CC93F17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7471952"/>
        <c:axId val="596190832"/>
      </c:lineChart>
      <c:catAx>
        <c:axId val="12174719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190832"/>
        <c:crosses val="autoZero"/>
        <c:auto val="1"/>
        <c:lblAlgn val="ctr"/>
        <c:lblOffset val="100"/>
        <c:noMultiLvlLbl val="0"/>
      </c:catAx>
      <c:valAx>
        <c:axId val="596190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471952"/>
        <c:crosses val="autoZero"/>
        <c:crossBetween val="between"/>
      </c:valAx>
      <c:valAx>
        <c:axId val="596189872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502576"/>
        <c:crosses val="max"/>
        <c:crossBetween val="between"/>
      </c:valAx>
      <c:catAx>
        <c:axId val="1217502576"/>
        <c:scaling>
          <c:orientation val="minMax"/>
        </c:scaling>
        <c:delete val="1"/>
        <c:axPos val="b"/>
        <c:majorTickMark val="out"/>
        <c:minorTickMark val="none"/>
        <c:tickLblPos val="nextTo"/>
        <c:crossAx val="5961898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548640"/>
            <a:ext cx="1554480" cy="1554480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35640" y="1645920"/>
            <a:ext cx="731520" cy="731520"/>
          </a:xfrm>
          <a:prstGeom prst="ellipse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4892040"/>
            <a:ext cx="1234440" cy="1234440"/>
          </a:xfrm>
          <a:prstGeom prst="ellipse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8229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Six Sigma Quality Improvement</a:t>
            </a:r>
          </a:p>
          <a:p>
            <a:pPr>
              <a:spcBef>
                <a:spcPts val="1200"/>
              </a:spcBef>
              <a:defRPr sz="2300">
                <a:solidFill>
                  <a:srgbClr val="DCEBF5"/>
                </a:solidFill>
              </a:defRPr>
            </a:pPr>
            <a:r>
              <a:t>Reduction of Manufacturing Defects in Wooden Toy Production</a:t>
            </a:r>
          </a:p>
          <a:p>
            <a:pPr>
              <a:spcBef>
                <a:spcPts val="1800"/>
              </a:spcBef>
              <a:defRPr sz="1600">
                <a:solidFill>
                  <a:srgbClr val="B4D2DC"/>
                </a:solidFill>
              </a:defRPr>
            </a:pPr>
            <a:r>
              <a:t>Chandan Wooden Toys Pvt. Ltd.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1828800" cy="502920"/>
          </a:xfrm>
          <a:prstGeom prst="round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169663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DEFINE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069080"/>
            <a:ext cx="1828800" cy="502920"/>
          </a:xfrm>
          <a:prstGeom prst="round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4169663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069080"/>
            <a:ext cx="1828800" cy="502920"/>
          </a:xfrm>
          <a:prstGeom prst="round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4169663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4069080"/>
            <a:ext cx="1828800" cy="502920"/>
          </a:xfrm>
          <a:prstGeom prst="round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4169663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IMPROVE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069080"/>
            <a:ext cx="1828800" cy="502920"/>
          </a:xfrm>
          <a:prstGeom prst="round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4169663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50200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DD7"/>
                </a:solidFill>
              </a:defRPr>
            </a:pPr>
            <a:r>
              <a:rPr dirty="0"/>
              <a:t>Team</a:t>
            </a:r>
            <a:r>
              <a:rPr lang="en-US" dirty="0"/>
              <a:t> Members : Jatin Kumar Rajput  , Riya Gupta , Dev Bhatia , Kaushal Goyal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1. Define — Problem, Goal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What are we trying to improve, and what is included in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73152" cy="132588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44752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Baseline defect rate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5.44%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593 / 10,909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3258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1325880"/>
            <a:ext cx="73152" cy="1325880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444752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Project target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≤ 2.50%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Maintain production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32588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77840" y="1325880"/>
            <a:ext cx="73152" cy="1325880"/>
          </a:xfrm>
          <a:prstGeom prst="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79007" y="1444752"/>
            <a:ext cx="2011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CTQ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Defect-free toy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Carving + finish + 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44752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Baseline period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28 days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Daily production &amp;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71800"/>
            <a:ext cx="2057400" cy="310896"/>
          </a:xfrm>
          <a:prstGeom prst="round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980944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303A"/>
                </a:solidFill>
              </a:defRPr>
            </a:pPr>
            <a:r>
              <a:rPr dirty="0"/>
              <a:t>• 593 defective toys were recorded during the 28-day baseline.</a:t>
            </a:r>
          </a:p>
          <a:p>
            <a:pPr>
              <a:spcAft>
                <a:spcPts val="700"/>
              </a:spcAft>
              <a:defRPr sz="1400">
                <a:solidFill>
                  <a:srgbClr val="28303A"/>
                </a:solidFill>
              </a:defRPr>
            </a:pPr>
            <a:r>
              <a:rPr dirty="0"/>
              <a:t>• 5.44% is the starting defect rate.</a:t>
            </a:r>
          </a:p>
          <a:p>
            <a:pPr>
              <a:spcAft>
                <a:spcPts val="700"/>
              </a:spcAft>
              <a:defRPr sz="1400">
                <a:solidFill>
                  <a:srgbClr val="28303A"/>
                </a:solidFill>
              </a:defRPr>
            </a:pPr>
            <a:r>
              <a:rPr dirty="0"/>
              <a:t>• Goal: reduce the overall defect rate toward ≤2.50%.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71800"/>
            <a:ext cx="1188720" cy="310896"/>
          </a:xfrm>
          <a:prstGeom prst="round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98094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83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IN: carving/shaping, paint/finish, joint/assembly, inspection, defect recording and rework/rejection.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OUT: marketing, pricing, distribution and customer service.</a:t>
            </a:r>
          </a:p>
          <a:p>
            <a:pPr>
              <a:spcAft>
                <a:spcPts val="700"/>
              </a:spcAft>
              <a:defRPr sz="1300">
                <a:solidFill>
                  <a:srgbClr val="28303A"/>
                </a:solidFill>
              </a:defRPr>
            </a:pPr>
            <a:r>
              <a:t>• Stakeholders: production supervisor, quality inspector, operators and operations manager.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43A"/>
                </a:solidFill>
              </a:defRPr>
            </a:pPr>
            <a:r>
              <a:t>Key idea: Define makes the problem measurable and keeps the project focused.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2. Process &amp;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SIPOC shows the process; the 28-day dataset provides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6847E"/>
                </a:solidFill>
              </a:defRPr>
            </a:pPr>
            <a:r>
              <a:t>SUPPLIERS</a:t>
            </a:r>
          </a:p>
          <a:p>
            <a:pPr algn="ctr">
              <a:spcBef>
                <a:spcPts val="800"/>
              </a:spcBef>
              <a:defRPr sz="950">
                <a:solidFill>
                  <a:srgbClr val="28303A"/>
                </a:solidFill>
              </a:defRPr>
            </a:pPr>
            <a:r>
              <a:t>Wood / paint /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17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572768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6847E"/>
                </a:solidFill>
              </a:defRPr>
            </a:pPr>
            <a:r>
              <a:t>INPUTS</a:t>
            </a:r>
          </a:p>
          <a:p>
            <a:pPr algn="ctr">
              <a:spcBef>
                <a:spcPts val="800"/>
              </a:spcBef>
              <a:defRPr sz="950">
                <a:solidFill>
                  <a:srgbClr val="28303A"/>
                </a:solidFill>
              </a:defRPr>
            </a:pPr>
            <a:r>
              <a:t>Materials /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41732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572768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6847E"/>
                </a:solidFill>
              </a:defRPr>
            </a:pPr>
            <a:r>
              <a:t>PROCESS</a:t>
            </a:r>
          </a:p>
          <a:p>
            <a:pPr algn="ctr">
              <a:spcBef>
                <a:spcPts val="800"/>
              </a:spcBef>
              <a:defRPr sz="950">
                <a:solidFill>
                  <a:srgbClr val="28303A"/>
                </a:solidFill>
              </a:defRPr>
            </a:pPr>
            <a:r>
              <a:t>Receive → Carve → Paint → Assemble → Inspect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72768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6847E"/>
                </a:solidFill>
              </a:defRPr>
            </a:pPr>
            <a:r>
              <a:t>OUTPUTS</a:t>
            </a:r>
          </a:p>
          <a:p>
            <a:pPr algn="ctr">
              <a:spcBef>
                <a:spcPts val="800"/>
              </a:spcBef>
              <a:defRPr sz="950">
                <a:solidFill>
                  <a:srgbClr val="28303A"/>
                </a:solidFill>
              </a:defRPr>
            </a:pPr>
            <a:r>
              <a:t>Finished / accepted / 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41732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0" y="1572768"/>
            <a:ext cx="1417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6847E"/>
                </a:solidFill>
              </a:defRPr>
            </a:pPr>
            <a:r>
              <a:t>CUSTOMERS</a:t>
            </a:r>
          </a:p>
          <a:p>
            <a:pPr algn="ctr">
              <a:spcBef>
                <a:spcPts val="800"/>
              </a:spcBef>
              <a:defRPr sz="950">
                <a:solidFill>
                  <a:srgbClr val="28303A"/>
                </a:solidFill>
              </a:defRPr>
            </a:pPr>
            <a:r>
              <a:t>End customer / retail / quality</a:t>
            </a:r>
          </a:p>
        </p:txBody>
      </p:sp>
      <p:sp>
        <p:nvSpPr>
          <p:cNvPr id="17" name="Chevron 16"/>
          <p:cNvSpPr/>
          <p:nvPr/>
        </p:nvSpPr>
        <p:spPr>
          <a:xfrm>
            <a:off x="2468880" y="1856231"/>
            <a:ext cx="320040" cy="502920"/>
          </a:xfrm>
          <a:prstGeom prst="chevron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4709160" y="1856231"/>
            <a:ext cx="320040" cy="502920"/>
          </a:xfrm>
          <a:prstGeom prst="chevron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7973568" y="1856231"/>
            <a:ext cx="320040" cy="502920"/>
          </a:xfrm>
          <a:prstGeom prst="chevron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evron 19"/>
          <p:cNvSpPr/>
          <p:nvPr/>
        </p:nvSpPr>
        <p:spPr>
          <a:xfrm>
            <a:off x="9784080" y="1856231"/>
            <a:ext cx="320040" cy="502920"/>
          </a:xfrm>
          <a:prstGeom prst="chevron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3337560"/>
            <a:ext cx="1783080" cy="310896"/>
          </a:xfrm>
          <a:prstGeom prst="round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346703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DEFECT CATEGORIES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947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794760"/>
            <a:ext cx="73152" cy="1371600"/>
          </a:xfrm>
          <a:prstGeom prst="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913632"/>
            <a:ext cx="29260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Carving / Shaping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138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Shape, carving or dimension defects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79476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23360" y="3794760"/>
            <a:ext cx="73152" cy="13716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24528" y="3913632"/>
            <a:ext cx="29260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Paint / Finish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277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Largest defect 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94760"/>
            <a:ext cx="4160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60" y="3794760"/>
            <a:ext cx="73152" cy="1371600"/>
          </a:xfrm>
          <a:prstGeom prst="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53528" y="3913632"/>
            <a:ext cx="3840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Joint / Assembly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178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Positioning / joining defects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8303A"/>
                </a:solidFill>
              </a:defRPr>
            </a:pPr>
            <a:r>
              <a:t>The dataset tracks toys produced, total defectives, each defect category, daily defect rate and daily yield.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3. Measure — Baseline Performance &amp;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How large is the problem, and does the process behave consistently?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1143000"/>
          </a:xfrm>
          <a:prstGeom prst="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353312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Production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10,909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toys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2344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23444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353312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Defective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593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toys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2344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59" y="123444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7527" y="1353312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Defect rate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5.44%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2344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1234440"/>
            <a:ext cx="73152" cy="1143000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1353312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Yield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94.56%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good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2344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29800" y="1234440"/>
            <a:ext cx="73152" cy="1143000"/>
          </a:xfrm>
          <a:prstGeom prst="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30968" y="1353312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DPMO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18,120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approx.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78892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11545" y="3397213"/>
            <a:ext cx="2617127" cy="12157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43A"/>
                </a:solidFill>
              </a:defRPr>
            </a:pPr>
            <a:r>
              <a:rPr dirty="0"/>
              <a:t>P-Chart finding</a:t>
            </a:r>
          </a:p>
          <a:p>
            <a:pPr>
              <a:defRPr sz="2100" b="1">
                <a:solidFill>
                  <a:srgbClr val="C44646"/>
                </a:solidFill>
              </a:defRPr>
            </a:pPr>
            <a:r>
              <a:rPr dirty="0"/>
              <a:t>3 special-cause points</a:t>
            </a:r>
          </a:p>
          <a:p>
            <a:pPr>
              <a:defRPr sz="1500" b="1">
                <a:solidFill>
                  <a:srgbClr val="28303A"/>
                </a:solidFill>
              </a:defRPr>
            </a:pPr>
            <a:r>
              <a:rPr dirty="0"/>
              <a:t>Days 8, 15 and 21</a:t>
            </a:r>
          </a:p>
          <a:p>
            <a:pPr>
              <a:defRPr sz="1100">
                <a:solidFill>
                  <a:srgbClr val="687482"/>
                </a:solidFill>
              </a:defRPr>
            </a:pPr>
            <a:r>
              <a:rPr dirty="0"/>
              <a:t>These days fall outside the expected 3</a:t>
            </a:r>
            <a:endParaRPr lang="en-US" dirty="0"/>
          </a:p>
          <a:p>
            <a:pPr>
              <a:defRPr sz="1100">
                <a:solidFill>
                  <a:srgbClr val="687482"/>
                </a:solidFill>
              </a:defRPr>
            </a:pPr>
            <a:r>
              <a:rPr dirty="0"/>
              <a:t> limits and should be investigated.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4/8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DAA50CD-D9DA-B875-F660-D541574EF5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8432726"/>
              </p:ext>
            </p:extLst>
          </p:nvPr>
        </p:nvGraphicFramePr>
        <p:xfrm>
          <a:off x="1084577" y="2798064"/>
          <a:ext cx="5585970" cy="296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4. Analyze — Pareto: Where Is the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Focus first on the defect category contributing the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508760"/>
            <a:ext cx="73152" cy="11430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44968" y="1627631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#1 Priority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Paint / Finish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277 defects = 46.7%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83464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2834640"/>
            <a:ext cx="73152" cy="1143000"/>
          </a:xfrm>
          <a:prstGeom prst="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8" y="295351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#2 Priority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Joint / Assembly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178 defects = 30.0%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160520"/>
            <a:ext cx="3886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4160520"/>
            <a:ext cx="73152" cy="1143000"/>
          </a:xfrm>
          <a:prstGeom prst="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4968" y="427939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87482"/>
                </a:solidFill>
              </a:defRPr>
            </a:pPr>
            <a:r>
              <a:t>#3 Priority</a:t>
            </a:r>
          </a:p>
          <a:p>
            <a:pPr>
              <a:defRPr sz="2300" b="1">
                <a:solidFill>
                  <a:srgbClr val="14243A"/>
                </a:solidFill>
              </a:defRPr>
            </a:pPr>
            <a:r>
              <a:t>Carving / Shaping</a:t>
            </a:r>
          </a:p>
          <a:p>
            <a:pPr>
              <a:defRPr sz="900">
                <a:solidFill>
                  <a:srgbClr val="28303A"/>
                </a:solidFill>
              </a:defRPr>
            </a:pPr>
            <a:r>
              <a:t>138 defects = 23.3%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53212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4243A"/>
                </a:solidFill>
              </a:defRPr>
            </a:pPr>
            <a:r>
              <a:t>Pareto tells us WHERE to focus; it does not prove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5/8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D14A2CA-6CB3-9DF5-3123-2932355EA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3222742"/>
              </p:ext>
            </p:extLst>
          </p:nvPr>
        </p:nvGraphicFramePr>
        <p:xfrm>
          <a:off x="762000" y="1508760"/>
          <a:ext cx="5837111" cy="4242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5. Analyze — 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Fishbone + 5 Why narrow the investigation toward process-control variation.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09160"/>
            <a:ext cx="10744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882896"/>
            <a:ext cx="10378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5 WHY: Finish varies → application/drying varies → method depends on judgement → parameters are not consistently documented/checked</a:t>
            </a:r>
          </a:p>
          <a:p>
            <a:pPr>
              <a:defRPr sz="1200" b="1">
                <a:solidFill>
                  <a:srgbClr val="14243A"/>
                </a:solidFill>
              </a:defRPr>
            </a:pPr>
            <a:r>
              <a:t>Leading root-cause hypothesis: insufficient standard work + visual controls. Validate during the 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6/8</a:t>
            </a:r>
          </a:p>
        </p:txBody>
      </p:sp>
      <p:sp>
        <p:nvSpPr>
          <p:cNvPr id="26" name="Rectangle: Rounded Corners 4">
            <a:extLst>
              <a:ext uri="{FF2B5EF4-FFF2-40B4-BE49-F238E27FC236}">
                <a16:creationId xmlns:a16="http://schemas.microsoft.com/office/drawing/2014/main" id="{EF12009F-C9D8-4B09-96EA-E395D01750F5}"/>
              </a:ext>
            </a:extLst>
          </p:cNvPr>
          <p:cNvSpPr/>
          <p:nvPr/>
        </p:nvSpPr>
        <p:spPr>
          <a:xfrm>
            <a:off x="685800" y="1134368"/>
            <a:ext cx="1940242" cy="10144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MACHINE</a:t>
            </a:r>
          </a:p>
          <a:p>
            <a:pPr algn="l"/>
            <a:endParaRPr lang="en-IN" sz="1100"/>
          </a:p>
          <a:p>
            <a:pPr algn="l"/>
            <a:r>
              <a:rPr lang="en-IN" sz="1100"/>
              <a:t>Tool wear</a:t>
            </a:r>
          </a:p>
          <a:p>
            <a:pPr algn="l"/>
            <a:r>
              <a:rPr lang="en-IN" sz="1100"/>
              <a:t>Paint equipment variation</a:t>
            </a:r>
          </a:p>
          <a:p>
            <a:pPr algn="l"/>
            <a:r>
              <a:rPr lang="en-IN" sz="1100"/>
              <a:t>Maintenance / calibration</a:t>
            </a:r>
          </a:p>
        </p:txBody>
      </p:sp>
      <p:sp>
        <p:nvSpPr>
          <p:cNvPr id="28" name="Rectangle: Rounded Corners 8">
            <a:extLst>
              <a:ext uri="{FF2B5EF4-FFF2-40B4-BE49-F238E27FC236}">
                <a16:creationId xmlns:a16="http://schemas.microsoft.com/office/drawing/2014/main" id="{6C38C3EF-577A-44D7-8846-E0597AF64857}"/>
              </a:ext>
            </a:extLst>
          </p:cNvPr>
          <p:cNvSpPr/>
          <p:nvPr/>
        </p:nvSpPr>
        <p:spPr>
          <a:xfrm>
            <a:off x="3021307" y="1120651"/>
            <a:ext cx="1940242" cy="10144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dirty="0"/>
              <a:t>MATERIAL</a:t>
            </a:r>
          </a:p>
          <a:p>
            <a:pPr algn="l"/>
            <a:endParaRPr lang="en-IN" sz="1100" dirty="0"/>
          </a:p>
          <a:p>
            <a:pPr algn="l"/>
            <a:r>
              <a:rPr lang="en-IN" sz="1100" dirty="0"/>
              <a:t>Wood condition / moisture</a:t>
            </a:r>
          </a:p>
          <a:p>
            <a:pPr algn="l"/>
            <a:r>
              <a:rPr lang="en-IN" sz="1100" dirty="0"/>
              <a:t>Paint viscosity / batch</a:t>
            </a:r>
          </a:p>
          <a:p>
            <a:pPr algn="l"/>
            <a:r>
              <a:rPr lang="en-IN" sz="1100" dirty="0"/>
              <a:t>Adhesive consistency</a:t>
            </a:r>
          </a:p>
        </p:txBody>
      </p:sp>
      <p:sp>
        <p:nvSpPr>
          <p:cNvPr id="29" name="Rectangle: Rounded Corners 10">
            <a:extLst>
              <a:ext uri="{FF2B5EF4-FFF2-40B4-BE49-F238E27FC236}">
                <a16:creationId xmlns:a16="http://schemas.microsoft.com/office/drawing/2014/main" id="{844FD0D7-1D74-467B-977F-2B426E3156BC}"/>
              </a:ext>
            </a:extLst>
          </p:cNvPr>
          <p:cNvSpPr/>
          <p:nvPr/>
        </p:nvSpPr>
        <p:spPr>
          <a:xfrm>
            <a:off x="5376962" y="1112019"/>
            <a:ext cx="2065484" cy="9956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MEASUREMENT</a:t>
            </a:r>
          </a:p>
          <a:p>
            <a:pPr algn="l"/>
            <a:endParaRPr lang="en-IN" sz="1100"/>
          </a:p>
          <a:p>
            <a:pPr algn="l"/>
            <a:r>
              <a:rPr lang="en-IN" sz="1100"/>
              <a:t>Defect classification</a:t>
            </a:r>
          </a:p>
          <a:p>
            <a:pPr algn="l"/>
            <a:r>
              <a:rPr lang="en-IN" sz="1100"/>
              <a:t>Inspection consistency</a:t>
            </a:r>
          </a:p>
          <a:p>
            <a:pPr algn="l"/>
            <a:r>
              <a:rPr lang="en-IN" sz="1100"/>
              <a:t>Recording accuracy</a:t>
            </a:r>
          </a:p>
        </p:txBody>
      </p:sp>
      <p:sp>
        <p:nvSpPr>
          <p:cNvPr id="30" name="Arrow: Right 3">
            <a:extLst>
              <a:ext uri="{FF2B5EF4-FFF2-40B4-BE49-F238E27FC236}">
                <a16:creationId xmlns:a16="http://schemas.microsoft.com/office/drawing/2014/main" id="{C5EDEF30-400D-340D-C50C-A552BEF3110D}"/>
              </a:ext>
            </a:extLst>
          </p:cNvPr>
          <p:cNvSpPr/>
          <p:nvPr/>
        </p:nvSpPr>
        <p:spPr>
          <a:xfrm>
            <a:off x="685800" y="2410784"/>
            <a:ext cx="7958138" cy="3735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31" name="Rectangle: Rounded Corners 5">
            <a:extLst>
              <a:ext uri="{FF2B5EF4-FFF2-40B4-BE49-F238E27FC236}">
                <a16:creationId xmlns:a16="http://schemas.microsoft.com/office/drawing/2014/main" id="{5209E52F-62C9-4D6C-A87F-52E0FE2A2B52}"/>
              </a:ext>
            </a:extLst>
          </p:cNvPr>
          <p:cNvSpPr/>
          <p:nvPr/>
        </p:nvSpPr>
        <p:spPr>
          <a:xfrm>
            <a:off x="8904306" y="2034540"/>
            <a:ext cx="2778105" cy="9956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/>
              <a:t>HIGH MANUFACTURING DEFECT RATE</a:t>
            </a:r>
          </a:p>
        </p:txBody>
      </p: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9CD7658D-38EC-4F58-958F-97882F942B2D}"/>
              </a:ext>
            </a:extLst>
          </p:cNvPr>
          <p:cNvSpPr/>
          <p:nvPr/>
        </p:nvSpPr>
        <p:spPr>
          <a:xfrm>
            <a:off x="685800" y="3030153"/>
            <a:ext cx="1940242" cy="10434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MAN</a:t>
            </a:r>
          </a:p>
          <a:p>
            <a:pPr algn="l"/>
            <a:endParaRPr lang="en-IN" sz="1100"/>
          </a:p>
          <a:p>
            <a:pPr algn="l"/>
            <a:r>
              <a:rPr lang="en-IN" sz="1100"/>
              <a:t>Operator technique</a:t>
            </a:r>
          </a:p>
          <a:p>
            <a:pPr algn="l"/>
            <a:r>
              <a:rPr lang="en-IN" sz="1100"/>
              <a:t>Training / experience</a:t>
            </a:r>
          </a:p>
          <a:p>
            <a:pPr algn="l"/>
            <a:r>
              <a:rPr lang="en-IN" sz="1100"/>
              <a:t>Fatigue / handover</a:t>
            </a:r>
          </a:p>
        </p:txBody>
      </p:sp>
      <p:sp>
        <p:nvSpPr>
          <p:cNvPr id="35" name="Rectangle: Rounded Corners 7">
            <a:extLst>
              <a:ext uri="{FF2B5EF4-FFF2-40B4-BE49-F238E27FC236}">
                <a16:creationId xmlns:a16="http://schemas.microsoft.com/office/drawing/2014/main" id="{5579CF5D-0F7E-4E24-B740-3505E3AFD74F}"/>
              </a:ext>
            </a:extLst>
          </p:cNvPr>
          <p:cNvSpPr/>
          <p:nvPr/>
        </p:nvSpPr>
        <p:spPr>
          <a:xfrm>
            <a:off x="2985018" y="3002783"/>
            <a:ext cx="1976531" cy="1097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 dirty="0"/>
              <a:t>METHOD</a:t>
            </a:r>
          </a:p>
          <a:p>
            <a:pPr algn="l"/>
            <a:endParaRPr lang="en-IN" sz="1100" dirty="0"/>
          </a:p>
          <a:p>
            <a:pPr algn="l"/>
            <a:r>
              <a:rPr lang="en-IN" sz="1100" dirty="0"/>
              <a:t>Paint quantity / coats</a:t>
            </a:r>
          </a:p>
          <a:p>
            <a:pPr algn="l"/>
            <a:r>
              <a:rPr lang="en-IN" sz="1100" dirty="0"/>
              <a:t>Drying time</a:t>
            </a:r>
          </a:p>
          <a:p>
            <a:pPr algn="l"/>
            <a:r>
              <a:rPr lang="en-IN" sz="1100" dirty="0"/>
              <a:t>Assembly sequence</a:t>
            </a:r>
          </a:p>
          <a:p>
            <a:pPr algn="l"/>
            <a:r>
              <a:rPr lang="en-IN" sz="1100" dirty="0"/>
              <a:t>First-piece approval</a:t>
            </a:r>
          </a:p>
        </p:txBody>
      </p:sp>
      <p:sp>
        <p:nvSpPr>
          <p:cNvPr id="36" name="Rectangle: Rounded Corners 9">
            <a:extLst>
              <a:ext uri="{FF2B5EF4-FFF2-40B4-BE49-F238E27FC236}">
                <a16:creationId xmlns:a16="http://schemas.microsoft.com/office/drawing/2014/main" id="{62E00681-C5C2-4E48-9692-58DF58923953}"/>
              </a:ext>
            </a:extLst>
          </p:cNvPr>
          <p:cNvSpPr/>
          <p:nvPr/>
        </p:nvSpPr>
        <p:spPr>
          <a:xfrm>
            <a:off x="5360814" y="3060008"/>
            <a:ext cx="2122362" cy="9956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100"/>
              <a:t>ENVIRONMENT</a:t>
            </a:r>
          </a:p>
          <a:p>
            <a:pPr algn="l"/>
            <a:endParaRPr lang="en-IN" sz="1100"/>
          </a:p>
          <a:p>
            <a:pPr algn="l"/>
            <a:r>
              <a:rPr lang="en-IN" sz="1100"/>
              <a:t>Dust / cleanliness</a:t>
            </a:r>
          </a:p>
          <a:p>
            <a:pPr algn="l"/>
            <a:r>
              <a:rPr lang="en-IN" sz="1100"/>
              <a:t>Temperature / humidity</a:t>
            </a:r>
          </a:p>
          <a:p>
            <a:pPr algn="l"/>
            <a:r>
              <a:rPr lang="en-IN" sz="1100"/>
              <a:t>Workstation conditions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858E2D-28EE-4FF4-A8A3-A98480C5B718}"/>
              </a:ext>
            </a:extLst>
          </p:cNvPr>
          <p:cNvCxnSpPr>
            <a:cxnSpLocks/>
          </p:cNvCxnSpPr>
          <p:nvPr/>
        </p:nvCxnSpPr>
        <p:spPr>
          <a:xfrm>
            <a:off x="2387605" y="1894054"/>
            <a:ext cx="498805" cy="59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45D1F7-E661-9349-3AEA-D7A6A941C520}"/>
              </a:ext>
            </a:extLst>
          </p:cNvPr>
          <p:cNvCxnSpPr>
            <a:cxnSpLocks/>
          </p:cNvCxnSpPr>
          <p:nvPr/>
        </p:nvCxnSpPr>
        <p:spPr>
          <a:xfrm flipV="1">
            <a:off x="2212469" y="2710957"/>
            <a:ext cx="668215" cy="52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4C43AB9-7B3A-4511-BFE6-125F864C02FF}"/>
              </a:ext>
            </a:extLst>
          </p:cNvPr>
          <p:cNvCxnSpPr>
            <a:cxnSpLocks/>
          </p:cNvCxnSpPr>
          <p:nvPr/>
        </p:nvCxnSpPr>
        <p:spPr>
          <a:xfrm>
            <a:off x="4485591" y="1825423"/>
            <a:ext cx="736326" cy="66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B6AA13-2FDB-4B28-A1E8-E5291DB48AE4}"/>
              </a:ext>
            </a:extLst>
          </p:cNvPr>
          <p:cNvCxnSpPr>
            <a:cxnSpLocks/>
          </p:cNvCxnSpPr>
          <p:nvPr/>
        </p:nvCxnSpPr>
        <p:spPr>
          <a:xfrm flipV="1">
            <a:off x="4393522" y="2717700"/>
            <a:ext cx="837108" cy="58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2D3C138-50E6-4CE8-A8F4-20C29B43CF65}"/>
              </a:ext>
            </a:extLst>
          </p:cNvPr>
          <p:cNvCxnSpPr>
            <a:cxnSpLocks/>
          </p:cNvCxnSpPr>
          <p:nvPr/>
        </p:nvCxnSpPr>
        <p:spPr>
          <a:xfrm>
            <a:off x="6882644" y="1711051"/>
            <a:ext cx="599153" cy="75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069FC7-141D-4421-8BE3-A59C786DACA4}"/>
              </a:ext>
            </a:extLst>
          </p:cNvPr>
          <p:cNvCxnSpPr>
            <a:cxnSpLocks/>
          </p:cNvCxnSpPr>
          <p:nvPr/>
        </p:nvCxnSpPr>
        <p:spPr>
          <a:xfrm flipV="1">
            <a:off x="6882644" y="2717426"/>
            <a:ext cx="626865" cy="64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6. Improve &amp; Control — Solutions, FMEA and Reaction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2"/>
                </a:solidFill>
              </a:defRPr>
            </a:pPr>
            <a:r>
              <a:t>Turn the analysis into practical actions and a system for sustaining gains.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2"/>
                </a:solidFill>
              </a:defRPr>
            </a:pPr>
            <a:r>
              <a:t>Speaker: Member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965960" cy="310896"/>
          </a:xfrm>
          <a:prstGeom prst="round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43584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IMPROVEMENT ACTIONS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73352"/>
            <a:ext cx="4480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Paint/Finish SOP + visual standard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50008"/>
            <a:ext cx="384048" cy="384048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31720"/>
            <a:ext cx="4480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Minimum drying time + first-piece approval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008376"/>
            <a:ext cx="384048" cy="384048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90088"/>
            <a:ext cx="4480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Assembly fixture / poka-yoke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66744"/>
            <a:ext cx="384048" cy="384048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48456"/>
            <a:ext cx="4480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Daily tool check + replacement trigger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61688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06824"/>
            <a:ext cx="4480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28303A"/>
                </a:solidFill>
              </a:defRPr>
            </a:pPr>
            <a:r>
              <a:t>Common defect-definition guide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1234440"/>
            <a:ext cx="1417320" cy="310896"/>
          </a:xfrm>
          <a:prstGeom prst="roundRect">
            <a:avLst/>
          </a:prstGeom>
          <a:solidFill>
            <a:srgbClr val="DC9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1243584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FMEA PRIORITY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1691640"/>
            <a:ext cx="5532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1874519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687482"/>
                </a:solidFill>
              </a:defRPr>
            </a:pPr>
            <a:r>
              <a:t>Failure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74519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687482"/>
                </a:solidFill>
              </a:defRPr>
            </a:pPr>
            <a:r>
              <a:t>S×O×D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1874519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687482"/>
                </a:solidFill>
              </a:defRPr>
            </a:pPr>
            <a:r>
              <a:t>RPN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1874519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687482"/>
                </a:solidFill>
              </a:defRPr>
            </a:pPr>
            <a:r>
              <a:t>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33172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C44646"/>
                </a:solidFill>
              </a:defRPr>
            </a:pPr>
            <a:r>
              <a:t>Incorrect paint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33172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C44646"/>
                </a:solidFill>
              </a:defRPr>
            </a:pPr>
            <a:r>
              <a:t>8×7×5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3317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C44646"/>
                </a:solidFill>
              </a:defRPr>
            </a:pPr>
            <a:r>
              <a:t>280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23317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C44646"/>
                </a:solidFill>
              </a:defRPr>
            </a:pPr>
            <a: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834639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Insufficient drying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834639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7×6×6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834639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252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2834639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3375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Wrong joint positioning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33756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8×5×5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3375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33375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0">
                <a:solidFill>
                  <a:srgbClr val="28303A"/>
                </a:solidFill>
              </a:defRPr>
            </a:pPr>
            <a:r>
              <a:t>Medium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4297680"/>
            <a:ext cx="960120" cy="310896"/>
          </a:xfrm>
          <a:prstGeom prst="roundRect">
            <a:avLst/>
          </a:prstGeom>
          <a:solidFill>
            <a:srgbClr val="2A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97880" y="4306824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681728"/>
            <a:ext cx="5440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30">
                <a:solidFill>
                  <a:srgbClr val="28303A"/>
                </a:solidFill>
              </a:defRPr>
            </a:pPr>
            <a:r>
              <a:t>• Daily: defect rate + category trends; P-chart/KPI.</a:t>
            </a:r>
          </a:p>
          <a:p>
            <a:pPr>
              <a:spcAft>
                <a:spcPts val="700"/>
              </a:spcAft>
              <a:defRPr sz="1030">
                <a:solidFill>
                  <a:srgbClr val="28303A"/>
                </a:solidFill>
              </a:defRPr>
            </a:pPr>
            <a:r>
              <a:t>• Every batch: 100% first-piece approval; hold if missing.</a:t>
            </a:r>
          </a:p>
          <a:p>
            <a:pPr>
              <a:spcAft>
                <a:spcPts val="700"/>
              </a:spcAft>
              <a:defRPr sz="1030">
                <a:solidFill>
                  <a:srgbClr val="28303A"/>
                </a:solidFill>
              </a:defRPr>
            </a:pPr>
            <a:r>
              <a:t>• Weekly: SOP audit; target ≥95%.</a:t>
            </a:r>
          </a:p>
          <a:p>
            <a:pPr>
              <a:spcAft>
                <a:spcPts val="700"/>
              </a:spcAft>
              <a:defRPr sz="1030">
                <a:solidFill>
                  <a:srgbClr val="28303A"/>
                </a:solidFill>
              </a:defRPr>
            </a:pPr>
            <a:r>
              <a:t>• Green = continue; Yellow = review; Red = investigate, correct and verify.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Conclusion — The Six Sigma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ED2DC"/>
                </a:solidFill>
              </a:defRPr>
            </a:pPr>
            <a:r>
              <a:t>What the project found and what happens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423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2148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C44646"/>
                </a:solidFill>
              </a:defRPr>
            </a:pPr>
            <a:r>
              <a:t>5.44%</a:t>
            </a:r>
          </a:p>
          <a:p>
            <a:pPr algn="ctr">
              <a:defRPr sz="1050">
                <a:solidFill>
                  <a:srgbClr val="28303A"/>
                </a:solidFill>
              </a:defRPr>
            </a:pPr>
            <a:r>
              <a:t>Baseline defect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423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673352"/>
            <a:ext cx="2148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9C32"/>
                </a:solidFill>
              </a:defRPr>
            </a:pPr>
            <a:r>
              <a:t>46.7%</a:t>
            </a:r>
          </a:p>
          <a:p>
            <a:pPr algn="ctr">
              <a:defRPr sz="1050">
                <a:solidFill>
                  <a:srgbClr val="28303A"/>
                </a:solidFill>
              </a:defRPr>
            </a:pPr>
            <a:r>
              <a:t>Paint/Finish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2423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73352"/>
            <a:ext cx="2148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C44646"/>
                </a:solidFill>
              </a:defRPr>
            </a:pPr>
            <a:r>
              <a:t>280</a:t>
            </a:r>
          </a:p>
          <a:p>
            <a:pPr algn="ctr">
              <a:defRPr sz="1050">
                <a:solidFill>
                  <a:srgbClr val="28303A"/>
                </a:solidFill>
              </a:defRPr>
            </a:pPr>
            <a:r>
              <a:t>Highest FMEA RPN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423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1673352"/>
            <a:ext cx="2148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6847E"/>
                </a:solidFill>
              </a:defRPr>
            </a:pPr>
            <a:r>
              <a:t>≤2.50%</a:t>
            </a:r>
          </a:p>
          <a:p>
            <a:pPr algn="ctr">
              <a:defRPr sz="1050">
                <a:solidFill>
                  <a:srgbClr val="28303A"/>
                </a:solidFill>
              </a:defRPr>
            </a:pPr>
            <a:r>
              <a:t>Project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1508760" cy="310896"/>
          </a:xfrm>
          <a:prstGeom prst="roundRect">
            <a:avLst/>
          </a:prstGeom>
          <a:solidFill>
            <a:srgbClr val="26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3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• 593 defects were found in 10,909 toys during the baseline.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• Paint/Finish is the first improvement priority, followed by Joint/Assembly.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• The leading root-cause hypothesis is variation in standard work and process controls.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• The proposed solution is to standardize work, catch problems earlier and monitor the process daily.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23560"/>
            <a:ext cx="10789920" cy="566928"/>
          </a:xfrm>
          <a:prstGeom prst="roundRect">
            <a:avLst/>
          </a:prstGeom>
          <a:solidFill>
            <a:srgbClr val="23384E"/>
          </a:solidFill>
          <a:ln>
            <a:solidFill>
              <a:srgbClr val="46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74243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E1EBF2"/>
                </a:solidFill>
              </a:defRPr>
            </a:pPr>
            <a:r>
              <a:t>Next step: run the pilot and compare post-improvement data with the 5.44% baseline. Do not claim ≤2.50% until data confirms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455664"/>
            <a:ext cx="18745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B4C8D2"/>
                </a:solidFill>
              </a:defRPr>
            </a:pPr>
            <a:r>
              <a:t>Speaker: Member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82"/>
                </a:solidFill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849</Words>
  <Application>Microsoft Macintosh PowerPoint</Application>
  <PresentationFormat>Widescreen</PresentationFormat>
  <Paragraphs>194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gupta</cp:lastModifiedBy>
  <cp:revision>4</cp:revision>
  <dcterms:created xsi:type="dcterms:W3CDTF">2013-01-27T09:14:16Z</dcterms:created>
  <dcterms:modified xsi:type="dcterms:W3CDTF">2026-09-09T05:17:41Z</dcterms:modified>
  <cp:category/>
</cp:coreProperties>
</file>